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78" r:id="rId3"/>
    <p:sldId id="279" r:id="rId4"/>
    <p:sldId id="271" r:id="rId5"/>
    <p:sldId id="280" r:id="rId6"/>
    <p:sldId id="258" r:id="rId7"/>
    <p:sldId id="272" r:id="rId8"/>
    <p:sldId id="276" r:id="rId9"/>
    <p:sldId id="281" r:id="rId10"/>
    <p:sldId id="275" r:id="rId11"/>
    <p:sldId id="268" r:id="rId1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34C"/>
    <a:srgbClr val="94634C"/>
    <a:srgbClr val="EA7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5161" autoAdjust="0"/>
  </p:normalViewPr>
  <p:slideViewPr>
    <p:cSldViewPr>
      <p:cViewPr varScale="1">
        <p:scale>
          <a:sx n="90" d="100"/>
          <a:sy n="90" d="100"/>
        </p:scale>
        <p:origin x="72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828ADFE-2F85-45A2-B1C9-161DC1FDAE36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D10F94A-0053-4E6A-B4BD-F0A0058CBA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4357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5BDA3-89F5-4386-90F8-FD8F5DC8DA59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18848-EDB6-470D-BE26-70BDACF3A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CE6BD-F07E-499D-B16D-352998E99D27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650E5-5D36-45C9-A0E3-447DD1E0DA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964FE-FD26-4BAF-9D36-C2F99DBE60EC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12621D-35DB-49E3-B0A0-23AFDDF76F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B1673-70B3-4A8E-9CA5-A93E3F6D1A93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DAB82-568F-4742-A2C8-68E32C33F2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2E250-711D-45A2-8E97-542788692D9A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6B9FE-1AB1-4ADC-BDA9-3E6258F62B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73BFDD-8A54-47E9-B451-38DA8F607208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E68BF-88A0-4830-9E1E-FE82F1AB6F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1541D-764B-47C9-9DDC-5F3CCB5F9B17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BAD48-38B1-4D62-BC29-859500F7FA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57FF6-DCED-47F8-A91F-17A061B665A4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2092E-2A6B-4448-9EA3-26BF0C48BF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AD386-0362-4A8F-BC68-CECC5F827448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E7A79-AE25-436A-9504-7197E046354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A4503-2597-4BE6-B43D-BE60EC41B5E7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6DC04-5AC1-4AEC-98F2-5E3ED389F3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C85F1-9900-4369-9960-20B6C1757D69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F408E-FAED-4007-9CA9-AA2BBAD248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6C999E0-0DCB-4D32-8054-42626DD4E3E5}" type="datetimeFigureOut">
              <a:rPr lang="zh-CN" altLang="en-US"/>
              <a:pPr>
                <a:defRPr/>
              </a:pPr>
              <a:t>16/7/12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0DFD6EA-D8B9-4FF0-A2D9-3A489C42BE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2051720" y="5000625"/>
            <a:ext cx="5163468" cy="428625"/>
          </a:xfrm>
          <a:prstGeom prst="rect">
            <a:avLst/>
          </a:prstGeom>
          <a:solidFill>
            <a:srgbClr val="946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0" y="2071688"/>
            <a:ext cx="9144000" cy="1857375"/>
          </a:xfrm>
          <a:prstGeom prst="rect">
            <a:avLst/>
          </a:prstGeom>
          <a:solidFill>
            <a:srgbClr val="946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94634C"/>
              </a:solidFill>
            </a:endParaRPr>
          </a:p>
        </p:txBody>
      </p:sp>
      <p:sp>
        <p:nvSpPr>
          <p:cNvPr id="3076" name="TextBox 5" hidden="1"/>
          <p:cNvSpPr txBox="1">
            <a:spLocks noChangeArrowheads="1"/>
          </p:cNvSpPr>
          <p:nvPr/>
        </p:nvSpPr>
        <p:spPr bwMode="auto"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点击添加文本</a:t>
            </a:r>
          </a:p>
        </p:txBody>
      </p:sp>
      <p:sp>
        <p:nvSpPr>
          <p:cNvPr id="3077" name="矩形 6" hidden="1"/>
          <p:cNvSpPr>
            <a:spLocks noChangeArrowheads="1"/>
          </p:cNvSpPr>
          <p:nvPr/>
        </p:nvSpPr>
        <p:spPr bwMode="auto"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点击添加文本</a:t>
            </a:r>
          </a:p>
        </p:txBody>
      </p:sp>
      <p:sp>
        <p:nvSpPr>
          <p:cNvPr id="3078" name="矩形 7" hidden="1"/>
          <p:cNvSpPr>
            <a:spLocks noChangeArrowheads="1"/>
          </p:cNvSpPr>
          <p:nvPr/>
        </p:nvSpPr>
        <p:spPr bwMode="auto"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点击添加文本</a:t>
            </a:r>
          </a:p>
        </p:txBody>
      </p:sp>
      <p:sp>
        <p:nvSpPr>
          <p:cNvPr id="3079" name="矩形 8" hidden="1"/>
          <p:cNvSpPr>
            <a:spLocks noChangeArrowheads="1"/>
          </p:cNvSpPr>
          <p:nvPr/>
        </p:nvSpPr>
        <p:spPr bwMode="auto"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点击添加文本</a:t>
            </a:r>
          </a:p>
        </p:txBody>
      </p:sp>
      <p:sp>
        <p:nvSpPr>
          <p:cNvPr id="3080" name="TextBox 27"/>
          <p:cNvSpPr txBox="1">
            <a:spLocks noChangeArrowheads="1"/>
          </p:cNvSpPr>
          <p:nvPr/>
        </p:nvSpPr>
        <p:spPr bwMode="auto">
          <a:xfrm>
            <a:off x="2411760" y="2677209"/>
            <a:ext cx="56080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36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1" name="TextBox 28"/>
          <p:cNvSpPr txBox="1">
            <a:spLocks noChangeArrowheads="1"/>
          </p:cNvSpPr>
          <p:nvPr/>
        </p:nvSpPr>
        <p:spPr bwMode="auto">
          <a:xfrm>
            <a:off x="2123728" y="5085184"/>
            <a:ext cx="47525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孙凡	</a:t>
            </a:r>
            <a:r>
              <a:rPr lang="en-US" altLang="zh-CN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2016</a:t>
            </a:r>
            <a:r>
              <a:rPr lang="en-US" altLang="zh-CN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/07/13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	数字家圆科技有限公司</a:t>
            </a:r>
            <a:endParaRPr lang="zh-CN" altLang="en-US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38872" y="1487488"/>
            <a:ext cx="3736920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 smtClean="0"/>
              <a:t>一</a:t>
            </a:r>
            <a:r>
              <a:rPr kumimoji="1" lang="en-US" altLang="zh-CN" b="1" dirty="0" smtClean="0"/>
              <a:t>.Spring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MVC</a:t>
            </a:r>
            <a:r>
              <a:rPr kumimoji="1" lang="zh-CN" altLang="en-US" b="1" dirty="0" smtClean="0"/>
              <a:t>是什么</a:t>
            </a:r>
          </a:p>
          <a:p>
            <a:pPr>
              <a:lnSpc>
                <a:spcPct val="150000"/>
              </a:lnSpc>
            </a:pPr>
            <a:endParaRPr kumimoji="1" lang="zh-CN" altLang="en-US" b="1" dirty="0"/>
          </a:p>
          <a:p>
            <a:pPr>
              <a:lnSpc>
                <a:spcPct val="150000"/>
              </a:lnSpc>
            </a:pPr>
            <a:r>
              <a:rPr kumimoji="1" lang="zh-CN" altLang="en-US" b="1" dirty="0" smtClean="0"/>
              <a:t>二</a:t>
            </a:r>
            <a:r>
              <a:rPr kumimoji="1" lang="en-US" altLang="zh-CN" b="1" dirty="0" smtClean="0"/>
              <a:t>.Spring</a:t>
            </a:r>
            <a:r>
              <a:rPr kumimoji="1" lang="zh-CN" altLang="en-US" b="1" dirty="0" smtClean="0"/>
              <a:t>的核心思想：</a:t>
            </a:r>
            <a:r>
              <a:rPr kumimoji="1" lang="en-US" altLang="zh-CN" b="1" dirty="0" smtClean="0"/>
              <a:t>AOP</a:t>
            </a:r>
            <a:r>
              <a:rPr kumimoji="1" lang="zh-CN" altLang="en-US" b="1" dirty="0" smtClean="0"/>
              <a:t>与</a:t>
            </a:r>
            <a:r>
              <a:rPr kumimoji="1" lang="en-US" altLang="zh-CN" b="1" dirty="0" smtClean="0"/>
              <a:t>IOC</a:t>
            </a:r>
            <a:endParaRPr kumimoji="1" lang="zh-CN" altLang="en-US" b="1" dirty="0" smtClean="0"/>
          </a:p>
          <a:p>
            <a:pPr>
              <a:lnSpc>
                <a:spcPct val="150000"/>
              </a:lnSpc>
            </a:pPr>
            <a:endParaRPr kumimoji="1" lang="zh-CN" altLang="en-US" b="1" dirty="0"/>
          </a:p>
          <a:p>
            <a:pPr>
              <a:lnSpc>
                <a:spcPct val="150000"/>
              </a:lnSpc>
            </a:pPr>
            <a:r>
              <a:rPr kumimoji="1" lang="zh-CN" altLang="en-US" b="1" dirty="0" smtClean="0"/>
              <a:t>三</a:t>
            </a:r>
            <a:r>
              <a:rPr kumimoji="1" lang="en-US" altLang="zh-CN" b="1" dirty="0" smtClean="0"/>
              <a:t>.Spring</a:t>
            </a:r>
            <a:r>
              <a:rPr kumimoji="1" lang="zh-CN" altLang="en-US" b="1" dirty="0" smtClean="0"/>
              <a:t>容器</a:t>
            </a:r>
          </a:p>
          <a:p>
            <a:pPr>
              <a:lnSpc>
                <a:spcPct val="150000"/>
              </a:lnSpc>
            </a:pPr>
            <a:endParaRPr kumimoji="1" lang="zh-CN" altLang="en-US" b="1" dirty="0"/>
          </a:p>
          <a:p>
            <a:pPr>
              <a:lnSpc>
                <a:spcPct val="150000"/>
              </a:lnSpc>
            </a:pPr>
            <a:r>
              <a:rPr kumimoji="1" lang="zh-CN" altLang="en-US" b="1" dirty="0" smtClean="0"/>
              <a:t>四</a:t>
            </a:r>
            <a:r>
              <a:rPr kumimoji="1" lang="en-US" altLang="zh-CN" b="1" dirty="0" smtClean="0"/>
              <a:t>.</a:t>
            </a:r>
            <a:r>
              <a:rPr kumimoji="1" lang="zh-CN" altLang="en-US" b="1" dirty="0" smtClean="0"/>
              <a:t>从</a:t>
            </a:r>
            <a:r>
              <a:rPr kumimoji="1" lang="en-US" altLang="zh-CN" b="1" dirty="0" smtClean="0"/>
              <a:t>XML</a:t>
            </a:r>
            <a:r>
              <a:rPr kumimoji="1" lang="zh-CN" altLang="en-US" b="1" dirty="0" smtClean="0"/>
              <a:t>到</a:t>
            </a:r>
            <a:r>
              <a:rPr kumimoji="1" lang="en-US" altLang="zh-CN" b="1" dirty="0" smtClean="0"/>
              <a:t>Annotation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12664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39825" y="1582340"/>
            <a:ext cx="55707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 smtClean="0"/>
              <a:t>一</a:t>
            </a:r>
            <a:r>
              <a:rPr kumimoji="1" lang="en-US" altLang="zh-CN" sz="2400" b="1" dirty="0" smtClean="0"/>
              <a:t>.Spring</a:t>
            </a:r>
            <a:r>
              <a:rPr kumimoji="1" lang="zh-CN" altLang="en-US" sz="2400" b="1" dirty="0" smtClean="0"/>
              <a:t> </a:t>
            </a:r>
            <a:r>
              <a:rPr kumimoji="1" lang="en-US" altLang="zh-CN" sz="2400" b="1" dirty="0" smtClean="0"/>
              <a:t>MVC</a:t>
            </a:r>
            <a:r>
              <a:rPr kumimoji="1" lang="zh-CN" altLang="en-US" sz="2400" b="1" dirty="0" smtClean="0"/>
              <a:t>是什么</a:t>
            </a:r>
          </a:p>
          <a:p>
            <a:endParaRPr kumimoji="1" lang="zh-CN" altLang="en-US" b="1" dirty="0"/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Spring</a:t>
            </a:r>
            <a:r>
              <a:rPr kumimoji="1" lang="zh-CN" altLang="en-US" b="1" dirty="0"/>
              <a:t>框架提供的用于构建</a:t>
            </a:r>
            <a:r>
              <a:rPr kumimoji="1" lang="en-US" altLang="zh-CN" b="1" dirty="0"/>
              <a:t>web</a:t>
            </a:r>
            <a:r>
              <a:rPr kumimoji="1" lang="zh-CN" altLang="en-US" b="1" dirty="0"/>
              <a:t>应用程序的</a:t>
            </a:r>
            <a:r>
              <a:rPr kumimoji="1" lang="en-US" altLang="zh-CN" b="1" dirty="0"/>
              <a:t>MVC</a:t>
            </a:r>
            <a:r>
              <a:rPr kumimoji="1" lang="zh-CN" altLang="en-US" b="1" dirty="0" smtClean="0"/>
              <a:t>框架</a:t>
            </a:r>
            <a:endParaRPr kumimoji="1" lang="zh-CN" altLang="en-US" b="1" dirty="0"/>
          </a:p>
          <a:p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0344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2" name="矩形 50"/>
          <p:cNvSpPr>
            <a:spLocks noChangeArrowheads="1"/>
          </p:cNvSpPr>
          <p:nvPr/>
        </p:nvSpPr>
        <p:spPr bwMode="auto">
          <a:xfrm>
            <a:off x="5786438" y="2428875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7275" y="1372226"/>
            <a:ext cx="8417689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 smtClean="0"/>
              <a:t>Struts2</a:t>
            </a:r>
            <a:r>
              <a:rPr kumimoji="1" lang="zh-CN" altLang="en-US" sz="2400" b="1" dirty="0" smtClean="0"/>
              <a:t>和</a:t>
            </a:r>
            <a:r>
              <a:rPr kumimoji="1" lang="en-US" altLang="zh-CN" sz="2400" b="1" dirty="0" smtClean="0"/>
              <a:t>Spring</a:t>
            </a:r>
            <a:r>
              <a:rPr kumimoji="1" lang="zh-CN" altLang="en-US" sz="2400" b="1" dirty="0" smtClean="0"/>
              <a:t> </a:t>
            </a:r>
            <a:r>
              <a:rPr kumimoji="1" lang="en-US" altLang="zh-CN" sz="2400" b="1" dirty="0" smtClean="0"/>
              <a:t>MVC</a:t>
            </a:r>
            <a:r>
              <a:rPr kumimoji="1" lang="zh-CN" altLang="en-US" sz="2400" b="1" dirty="0" smtClean="0"/>
              <a:t>的对比：</a:t>
            </a:r>
          </a:p>
          <a:p>
            <a:endParaRPr kumimoji="1" lang="zh-CN" altLang="en-US" sz="2400" b="1" dirty="0"/>
          </a:p>
          <a:p>
            <a:pPr marL="342900" indent="-342900">
              <a:buAutoNum type="arabicPeriod"/>
            </a:pPr>
            <a:r>
              <a:rPr lang="en-US" altLang="zh-CN" b="1" dirty="0" smtClean="0"/>
              <a:t>Struts2</a:t>
            </a:r>
            <a:r>
              <a:rPr lang="zh-CN" altLang="en-US" b="1" dirty="0"/>
              <a:t>是类级别的拦截， 一个类对应一个</a:t>
            </a:r>
            <a:r>
              <a:rPr lang="en-US" altLang="zh-CN" b="1" dirty="0"/>
              <a:t>request</a:t>
            </a:r>
            <a:r>
              <a:rPr lang="zh-CN" altLang="en-US" b="1" dirty="0"/>
              <a:t>上下文，</a:t>
            </a:r>
            <a:r>
              <a:rPr lang="en-US" altLang="zh-CN" b="1" dirty="0" smtClean="0"/>
              <a:t>Spring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MVC</a:t>
            </a:r>
            <a:endParaRPr lang="zh-CN" altLang="en-US" b="1" dirty="0" smtClean="0"/>
          </a:p>
          <a:p>
            <a:r>
              <a:rPr lang="zh-CN" altLang="en-US" b="1" dirty="0" smtClean="0"/>
              <a:t>是</a:t>
            </a:r>
            <a:r>
              <a:rPr lang="zh-CN" altLang="en-US" b="1" dirty="0"/>
              <a:t>方法级别的拦截，一个方法对应一个</a:t>
            </a:r>
            <a:r>
              <a:rPr lang="en-US" altLang="zh-CN" b="1" dirty="0"/>
              <a:t>request</a:t>
            </a:r>
            <a:r>
              <a:rPr lang="zh-CN" altLang="en-US" b="1" dirty="0" smtClean="0"/>
              <a:t>上下文，</a:t>
            </a:r>
            <a:r>
              <a:rPr lang="zh-CN" altLang="en-US" b="1" dirty="0" smtClean="0"/>
              <a:t>但是虽然</a:t>
            </a:r>
            <a:r>
              <a:rPr lang="en-US" altLang="zh-CN" b="1" dirty="0" smtClean="0"/>
              <a:t>Struts2</a:t>
            </a:r>
            <a:r>
              <a:rPr lang="zh-CN" altLang="en-US" b="1" dirty="0" smtClean="0"/>
              <a:t>中</a:t>
            </a:r>
          </a:p>
          <a:p>
            <a:r>
              <a:rPr lang="en-US" altLang="zh-CN" b="1" dirty="0" smtClean="0"/>
              <a:t>Action</a:t>
            </a:r>
            <a:r>
              <a:rPr lang="zh-CN" altLang="en-US" b="1" dirty="0" smtClean="0"/>
              <a:t>的</a:t>
            </a:r>
            <a:r>
              <a:rPr lang="zh-CN" altLang="en-US" b="1" dirty="0"/>
              <a:t>一个方法可以对应一个</a:t>
            </a:r>
            <a:r>
              <a:rPr lang="en-US" altLang="zh-CN" b="1" dirty="0" err="1"/>
              <a:t>url</a:t>
            </a:r>
            <a:r>
              <a:rPr lang="zh-CN" altLang="en-US" b="1" dirty="0"/>
              <a:t>，而其类属性却被所有方法</a:t>
            </a:r>
            <a:r>
              <a:rPr lang="zh-CN" altLang="en-US" b="1" dirty="0" smtClean="0"/>
              <a:t>共享</a:t>
            </a:r>
          </a:p>
          <a:p>
            <a:endParaRPr kumimoji="1" lang="zh-CN" altLang="en-US" b="1" dirty="0"/>
          </a:p>
          <a:p>
            <a:r>
              <a:rPr kumimoji="1" lang="en-US" altLang="zh-CN" b="1" dirty="0" smtClean="0"/>
              <a:t>2.</a:t>
            </a:r>
            <a:r>
              <a:rPr lang="zh-CN" altLang="en-US" b="1" dirty="0"/>
              <a:t>由于</a:t>
            </a:r>
            <a:r>
              <a:rPr lang="en-US" altLang="zh-CN" b="1" dirty="0"/>
              <a:t>Struts2</a:t>
            </a:r>
            <a:r>
              <a:rPr lang="zh-CN" altLang="en-US" b="1" dirty="0"/>
              <a:t>需要针对每个</a:t>
            </a:r>
            <a:r>
              <a:rPr lang="en-US" altLang="zh-CN" b="1" dirty="0"/>
              <a:t>request</a:t>
            </a:r>
            <a:r>
              <a:rPr lang="zh-CN" altLang="en-US" b="1" dirty="0"/>
              <a:t>进行封装，把</a:t>
            </a:r>
            <a:r>
              <a:rPr lang="en-US" altLang="zh-CN" b="1" dirty="0"/>
              <a:t>request</a:t>
            </a:r>
            <a:r>
              <a:rPr lang="zh-CN" altLang="en-US" b="1" dirty="0"/>
              <a:t>，</a:t>
            </a:r>
            <a:r>
              <a:rPr lang="en-US" altLang="zh-CN" b="1" dirty="0"/>
              <a:t>session</a:t>
            </a:r>
            <a:r>
              <a:rPr lang="zh-CN" altLang="en-US" b="1" dirty="0"/>
              <a:t>等</a:t>
            </a:r>
            <a:r>
              <a:rPr lang="en-US" altLang="zh-CN" b="1" dirty="0" smtClean="0"/>
              <a:t>servlet</a:t>
            </a:r>
            <a:endParaRPr lang="zh-CN" altLang="en-US" b="1" dirty="0" smtClean="0"/>
          </a:p>
          <a:p>
            <a:r>
              <a:rPr lang="zh-CN" altLang="en-US" b="1" dirty="0" smtClean="0"/>
              <a:t>生命</a:t>
            </a:r>
            <a:r>
              <a:rPr lang="zh-CN" altLang="en-US" b="1" dirty="0"/>
              <a:t>周期的变量封装成一个一个</a:t>
            </a:r>
            <a:r>
              <a:rPr lang="en-US" altLang="zh-CN" b="1" dirty="0"/>
              <a:t>Map</a:t>
            </a:r>
            <a:r>
              <a:rPr lang="zh-CN" altLang="en-US" b="1" dirty="0"/>
              <a:t>，供给每个</a:t>
            </a:r>
            <a:r>
              <a:rPr lang="en-US" altLang="zh-CN" b="1" dirty="0"/>
              <a:t>Action</a:t>
            </a:r>
            <a:r>
              <a:rPr lang="zh-CN" altLang="en-US" b="1" dirty="0"/>
              <a:t>使用，并保证线程安全</a:t>
            </a:r>
            <a:r>
              <a:rPr lang="zh-CN" altLang="en-US" b="1" dirty="0" smtClean="0"/>
              <a:t>，</a:t>
            </a:r>
          </a:p>
          <a:p>
            <a:r>
              <a:rPr lang="zh-CN" altLang="en-US" b="1" dirty="0" smtClean="0"/>
              <a:t>所以</a:t>
            </a:r>
            <a:r>
              <a:rPr lang="zh-CN" altLang="en-US" b="1" dirty="0"/>
              <a:t>在原则上，是比较耗费内存</a:t>
            </a:r>
            <a:r>
              <a:rPr lang="zh-CN" altLang="en-US" b="1" dirty="0" smtClean="0"/>
              <a:t>的</a:t>
            </a:r>
          </a:p>
          <a:p>
            <a:endParaRPr kumimoji="1" lang="zh-CN" altLang="en-US" b="1" dirty="0"/>
          </a:p>
          <a:p>
            <a:r>
              <a:rPr kumimoji="1" lang="en-US" altLang="zh-CN" b="1" dirty="0" smtClean="0"/>
              <a:t>3.</a:t>
            </a:r>
            <a:r>
              <a:rPr lang="zh-CN" altLang="en-US" dirty="0"/>
              <a:t> </a:t>
            </a:r>
            <a:r>
              <a:rPr lang="en-US" altLang="zh-CN" b="1" dirty="0" smtClean="0"/>
              <a:t>Spring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MVC</a:t>
            </a:r>
            <a:r>
              <a:rPr lang="zh-CN" altLang="en-US" b="1" dirty="0"/>
              <a:t>集成了</a:t>
            </a:r>
            <a:r>
              <a:rPr lang="en-US" altLang="zh-CN" b="1" dirty="0"/>
              <a:t>Ajax</a:t>
            </a:r>
            <a:r>
              <a:rPr lang="zh-CN" altLang="en-US" b="1" dirty="0"/>
              <a:t>，使用非常方便，只需一个注解</a:t>
            </a:r>
            <a:r>
              <a:rPr lang="en-US" altLang="zh-CN" b="1" dirty="0"/>
              <a:t>@</a:t>
            </a:r>
            <a:r>
              <a:rPr lang="en-US" altLang="zh-CN" b="1" dirty="0" err="1"/>
              <a:t>ResponseBody</a:t>
            </a:r>
            <a:r>
              <a:rPr lang="zh-CN" altLang="en-US" b="1" dirty="0" smtClean="0"/>
              <a:t>就</a:t>
            </a:r>
          </a:p>
          <a:p>
            <a:r>
              <a:rPr lang="zh-CN" altLang="en-US" b="1" dirty="0" smtClean="0"/>
              <a:t>可以</a:t>
            </a:r>
            <a:r>
              <a:rPr lang="zh-CN" altLang="en-US" b="1" dirty="0"/>
              <a:t>实现，然后直接返回响应文本即可，而</a:t>
            </a:r>
            <a:r>
              <a:rPr lang="en-US" altLang="zh-CN" b="1" dirty="0"/>
              <a:t>Struts2</a:t>
            </a:r>
            <a:r>
              <a:rPr lang="zh-CN" altLang="en-US" b="1" dirty="0"/>
              <a:t>拦截器集成了</a:t>
            </a:r>
            <a:r>
              <a:rPr lang="en-US" altLang="zh-CN" b="1" dirty="0"/>
              <a:t>Ajax</a:t>
            </a:r>
            <a:r>
              <a:rPr lang="zh-CN" altLang="en-US" b="1" dirty="0"/>
              <a:t>，在</a:t>
            </a:r>
            <a:r>
              <a:rPr lang="en-US" altLang="zh-CN" b="1" dirty="0" smtClean="0"/>
              <a:t>Action</a:t>
            </a:r>
            <a:endParaRPr lang="zh-CN" altLang="en-US" b="1" dirty="0" smtClean="0"/>
          </a:p>
          <a:p>
            <a:r>
              <a:rPr lang="zh-CN" altLang="en-US" b="1" dirty="0" smtClean="0"/>
              <a:t>中</a:t>
            </a:r>
            <a:r>
              <a:rPr lang="zh-CN" altLang="en-US" b="1" dirty="0"/>
              <a:t>处理时一般必须安装插件或者自己写代码集成进去，使用起来也相对不</a:t>
            </a:r>
            <a:r>
              <a:rPr lang="zh-CN" altLang="en-US" b="1" dirty="0" smtClean="0"/>
              <a:t>方便</a:t>
            </a:r>
          </a:p>
          <a:p>
            <a:endParaRPr kumimoji="1" lang="zh-CN" altLang="en-US" b="1" dirty="0"/>
          </a:p>
          <a:p>
            <a:r>
              <a:rPr kumimoji="1" lang="en-US" altLang="zh-CN" b="1" dirty="0" smtClean="0"/>
              <a:t>4.</a:t>
            </a:r>
            <a:r>
              <a:rPr lang="en-US" altLang="zh-CN" dirty="0"/>
              <a:t> </a:t>
            </a:r>
            <a:r>
              <a:rPr lang="en-US" altLang="zh-CN" b="1" dirty="0" smtClean="0"/>
              <a:t>Spring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MVC</a:t>
            </a:r>
            <a:r>
              <a:rPr lang="zh-CN" altLang="en-US" b="1" dirty="0"/>
              <a:t>开发效率和性能高于</a:t>
            </a:r>
            <a:r>
              <a:rPr lang="en-US" altLang="zh-CN" b="1" dirty="0" smtClean="0"/>
              <a:t>Struts2</a:t>
            </a:r>
            <a:r>
              <a:rPr lang="zh-CN" altLang="en-US" b="1" dirty="0" smtClean="0"/>
              <a:t>，</a:t>
            </a:r>
            <a:r>
              <a:rPr lang="zh-CN" altLang="en-US" b="1" dirty="0" smtClean="0"/>
              <a:t>通过使用</a:t>
            </a:r>
            <a:r>
              <a:rPr lang="en-US" altLang="zh-CN" b="1" dirty="0" smtClean="0"/>
              <a:t>Annotation</a:t>
            </a:r>
            <a:r>
              <a:rPr lang="zh-CN" altLang="en-US" b="1" dirty="0" smtClean="0"/>
              <a:t>基本可以实现</a:t>
            </a:r>
          </a:p>
          <a:p>
            <a:r>
              <a:rPr lang="zh-CN" altLang="en-US" b="1" dirty="0" smtClean="0"/>
              <a:t>“零配置”，而</a:t>
            </a:r>
            <a:r>
              <a:rPr lang="en-US" altLang="zh-CN" b="1" dirty="0" smtClean="0"/>
              <a:t>Struts2</a:t>
            </a:r>
            <a:r>
              <a:rPr lang="zh-CN" altLang="en-US" b="1" dirty="0" smtClean="0"/>
              <a:t>单一配置源的问题一直也没有很好的改进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4577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36280" y="1487488"/>
            <a:ext cx="807144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 smtClean="0"/>
              <a:t>二</a:t>
            </a:r>
            <a:r>
              <a:rPr kumimoji="1" lang="en-US" altLang="zh-CN" sz="2400" b="1" dirty="0" smtClean="0"/>
              <a:t>.Spring</a:t>
            </a:r>
            <a:r>
              <a:rPr kumimoji="1" lang="zh-CN" altLang="en-US" sz="2400" b="1" dirty="0" smtClean="0"/>
              <a:t>的核心思想：</a:t>
            </a:r>
            <a:r>
              <a:rPr kumimoji="1" lang="en-US" altLang="zh-CN" sz="2400" b="1" dirty="0" smtClean="0"/>
              <a:t>AOP</a:t>
            </a:r>
            <a:r>
              <a:rPr kumimoji="1" lang="zh-CN" altLang="en-US" sz="2400" b="1" dirty="0" smtClean="0"/>
              <a:t>与</a:t>
            </a:r>
            <a:r>
              <a:rPr kumimoji="1" lang="en-US" altLang="zh-CN" sz="2400" b="1" dirty="0" smtClean="0"/>
              <a:t>IOC</a:t>
            </a:r>
            <a:endParaRPr kumimoji="1" lang="zh-CN" altLang="en-US" sz="2400" b="1" dirty="0" smtClean="0"/>
          </a:p>
          <a:p>
            <a:endParaRPr kumimoji="1" lang="zh-CN" altLang="en-US" b="1" dirty="0"/>
          </a:p>
          <a:p>
            <a:r>
              <a:rPr kumimoji="1" lang="en-US" altLang="zh-CN" b="1" dirty="0" smtClean="0"/>
              <a:t>AOP: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Aspect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Oriented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Programming</a:t>
            </a:r>
            <a:r>
              <a:rPr kumimoji="1" lang="zh-CN" altLang="en-US" b="1" dirty="0" smtClean="0"/>
              <a:t> 面向切面编程</a:t>
            </a:r>
          </a:p>
          <a:p>
            <a:endParaRPr kumimoji="1" lang="zh-CN" altLang="en-US" b="1" dirty="0"/>
          </a:p>
          <a:p>
            <a:r>
              <a:rPr kumimoji="1" lang="zh-CN" altLang="en-US" b="1" dirty="0"/>
              <a:t>利用</a:t>
            </a:r>
            <a:r>
              <a:rPr kumimoji="1" lang="en-US" altLang="zh-CN" b="1" dirty="0"/>
              <a:t>AOP</a:t>
            </a:r>
            <a:r>
              <a:rPr kumimoji="1" lang="zh-CN" altLang="en-US" b="1" dirty="0"/>
              <a:t>可以对业务逻辑的各个部分进行隔离，从而使得业务逻辑各部分</a:t>
            </a:r>
            <a:r>
              <a:rPr kumimoji="1" lang="zh-CN" altLang="en-US" b="1" dirty="0" smtClean="0"/>
              <a:t>之间</a:t>
            </a:r>
          </a:p>
          <a:p>
            <a:endParaRPr kumimoji="1" lang="zh-CN" altLang="en-US" b="1" dirty="0" smtClean="0"/>
          </a:p>
          <a:p>
            <a:r>
              <a:rPr kumimoji="1" lang="zh-CN" altLang="en-US" b="1" dirty="0" smtClean="0"/>
              <a:t>的</a:t>
            </a:r>
            <a:r>
              <a:rPr kumimoji="1" lang="zh-CN" altLang="en-US" b="1" dirty="0"/>
              <a:t>耦合度降低，提高程序的可重用性，同时提高了开发的效率</a:t>
            </a:r>
            <a:endParaRPr kumimoji="1" lang="zh-CN" altLang="en-US" b="1" dirty="0"/>
          </a:p>
          <a:p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62157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544" y="1116945"/>
            <a:ext cx="828092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/>
              <a:t>IOC:Inversion</a:t>
            </a:r>
            <a:r>
              <a:rPr kumimoji="1" lang="en-US" altLang="zh-CN" sz="2400" b="1" dirty="0"/>
              <a:t> of Control </a:t>
            </a:r>
            <a:r>
              <a:rPr kumimoji="1" lang="zh-CN" altLang="en-US" sz="2400" b="1" dirty="0"/>
              <a:t>控制反转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依赖</a:t>
            </a:r>
            <a:r>
              <a:rPr kumimoji="1" lang="zh-CN" altLang="en-US" sz="2400" b="1" dirty="0" smtClean="0"/>
              <a:t>注入</a:t>
            </a:r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Spring</a:t>
            </a:r>
            <a:r>
              <a:rPr kumimoji="1" lang="zh-CN" altLang="en-US" b="1" dirty="0"/>
              <a:t>框架使用依赖注入的方式来管理对象之间的依赖关系当某个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对象（</a:t>
            </a:r>
            <a:r>
              <a:rPr kumimoji="1" lang="zh-CN" altLang="en-US" b="1" dirty="0" smtClean="0"/>
              <a:t>调</a:t>
            </a:r>
          </a:p>
          <a:p>
            <a:r>
              <a:rPr kumimoji="1" lang="zh-CN" altLang="en-US" b="1" dirty="0" smtClean="0"/>
              <a:t>用者</a:t>
            </a:r>
            <a:r>
              <a:rPr kumimoji="1" lang="zh-CN" altLang="en-US" b="1" dirty="0"/>
              <a:t>）需要调用另一个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对象（被依赖对象）的方法时，传统的方式有两种</a:t>
            </a:r>
            <a:r>
              <a:rPr kumimoji="1" lang="zh-CN" altLang="en-US" b="1" dirty="0" smtClean="0"/>
              <a:t>：</a:t>
            </a:r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1</a:t>
            </a:r>
            <a:r>
              <a:rPr kumimoji="1" lang="zh-CN" altLang="en-US" b="1" dirty="0"/>
              <a:t>：原始做法：调用者主动创建被依赖对象，然后再调用被依赖对象的</a:t>
            </a:r>
            <a:r>
              <a:rPr kumimoji="1" lang="zh-CN" altLang="en-US" b="1" dirty="0" smtClean="0"/>
              <a:t>方法</a:t>
            </a:r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2</a:t>
            </a:r>
            <a:r>
              <a:rPr kumimoji="1" lang="zh-CN" altLang="en-US" b="1" dirty="0"/>
              <a:t>：简单工厂模式：调用者先找到被依赖对象的工厂，然后主动通过工厂去获取被依赖对象，然后再调用被依赖对象的</a:t>
            </a:r>
            <a:r>
              <a:rPr kumimoji="1" lang="zh-CN" altLang="en-US" b="1" dirty="0" smtClean="0"/>
              <a:t>方法</a:t>
            </a:r>
          </a:p>
          <a:p>
            <a:endParaRPr kumimoji="1"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2" name="矩形 50"/>
          <p:cNvSpPr>
            <a:spLocks noChangeArrowheads="1"/>
          </p:cNvSpPr>
          <p:nvPr/>
        </p:nvSpPr>
        <p:spPr bwMode="auto">
          <a:xfrm>
            <a:off x="5786438" y="2428875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571" y="196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7584" y="1556792"/>
            <a:ext cx="74168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对于第一种方式，由于调用者需要形如“</a:t>
            </a:r>
            <a:r>
              <a:rPr kumimoji="1" lang="en-US" altLang="zh-CN" sz="2000" b="1" dirty="0"/>
              <a:t>new </a:t>
            </a:r>
            <a:r>
              <a:rPr kumimoji="1" lang="zh-CN" altLang="en-US" sz="2000" b="1" dirty="0"/>
              <a:t>被依赖对象构造器（）”的代码创建对象，因此会导致调用者和被依赖对象实现类的硬编码</a:t>
            </a:r>
            <a:r>
              <a:rPr kumimoji="1" lang="zh-CN" altLang="en-US" sz="2000" b="1" dirty="0" smtClean="0"/>
              <a:t>耦合</a:t>
            </a:r>
          </a:p>
          <a:p>
            <a:endParaRPr kumimoji="1" lang="zh-CN" altLang="en-US" sz="2000" b="1" dirty="0"/>
          </a:p>
          <a:p>
            <a:r>
              <a:rPr kumimoji="1" lang="zh-CN" altLang="en-US" sz="2000" b="1" dirty="0" smtClean="0"/>
              <a:t>而</a:t>
            </a:r>
            <a:r>
              <a:rPr kumimoji="1" lang="zh-CN" altLang="en-US" sz="2000" b="1" dirty="0"/>
              <a:t>在第二种方式中，调用者通过工厂来获取被依赖对象，工厂负责被依赖对象的创建，因而调用者面向被依赖对象的接口编程，这种方式虽然避免了类层次的硬编码耦合，但是调用者需要主动通过工厂去获取被依赖对象，这会带来调用者和被依赖对象工厂的</a:t>
            </a:r>
            <a:r>
              <a:rPr kumimoji="1" lang="zh-CN" altLang="en-US" sz="2000" b="1" dirty="0" smtClean="0"/>
              <a:t>耦合</a:t>
            </a:r>
          </a:p>
          <a:p>
            <a:endParaRPr kumimoji="1" lang="zh-CN" altLang="en-US" sz="2000" b="1" dirty="0"/>
          </a:p>
          <a:p>
            <a:r>
              <a:rPr kumimoji="1" lang="zh-CN" altLang="en-US" sz="2000" b="1" dirty="0" smtClean="0"/>
              <a:t>使用</a:t>
            </a:r>
            <a:r>
              <a:rPr kumimoji="1" lang="zh-CN" altLang="en-US" sz="2000" b="1" dirty="0"/>
              <a:t>了</a:t>
            </a:r>
            <a:r>
              <a:rPr kumimoji="1" lang="en-US" altLang="zh-CN" sz="2000" b="1" dirty="0"/>
              <a:t>Spring</a:t>
            </a:r>
            <a:r>
              <a:rPr kumimoji="1" lang="zh-CN" altLang="en-US" sz="2000" b="1" dirty="0"/>
              <a:t>框架之后，调用者无需主动获取被依赖对象，只需要被动接受</a:t>
            </a:r>
            <a:r>
              <a:rPr kumimoji="1" lang="en-US" altLang="zh-CN" sz="2000" b="1" dirty="0"/>
              <a:t>Spring</a:t>
            </a:r>
            <a:r>
              <a:rPr kumimoji="1" lang="zh-CN" altLang="en-US" sz="2000" b="1" dirty="0"/>
              <a:t>容器提供的被依赖对象的实例，因此被称为控制反转</a:t>
            </a:r>
          </a:p>
        </p:txBody>
      </p:sp>
    </p:spTree>
    <p:extLst>
      <p:ext uri="{BB962C8B-B14F-4D97-AF65-F5344CB8AC3E}">
        <p14:creationId xmlns:p14="http://schemas.microsoft.com/office/powerpoint/2010/main" val="8551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2" name="矩形 50"/>
          <p:cNvSpPr>
            <a:spLocks noChangeArrowheads="1"/>
          </p:cNvSpPr>
          <p:nvPr/>
        </p:nvSpPr>
        <p:spPr bwMode="auto">
          <a:xfrm>
            <a:off x="5786438" y="2428875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571" y="196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63302" y="1628800"/>
            <a:ext cx="77971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/>
              <a:t>三</a:t>
            </a:r>
            <a:r>
              <a:rPr kumimoji="1" lang="en-US" altLang="zh-CN" sz="2400" b="1" dirty="0" smtClean="0"/>
              <a:t>.</a:t>
            </a:r>
            <a:r>
              <a:rPr kumimoji="1" lang="en-US" altLang="zh-CN" sz="2400" b="1" dirty="0" smtClean="0"/>
              <a:t>Spring</a:t>
            </a:r>
            <a:r>
              <a:rPr kumimoji="1" lang="zh-CN" altLang="en-US" sz="2400" b="1" dirty="0"/>
              <a:t>容器</a:t>
            </a:r>
            <a:r>
              <a:rPr kumimoji="1" lang="zh-CN" altLang="en-US" sz="2400" b="1" dirty="0" smtClean="0"/>
              <a:t>：</a:t>
            </a:r>
          </a:p>
          <a:p>
            <a:endParaRPr kumimoji="1" lang="zh-CN" altLang="en-US" sz="2400" b="1" dirty="0" smtClean="0"/>
          </a:p>
          <a:p>
            <a:r>
              <a:rPr kumimoji="1" lang="en-US" altLang="zh-CN" b="1" dirty="0" smtClean="0"/>
              <a:t>Spring</a:t>
            </a:r>
            <a:r>
              <a:rPr kumimoji="1" lang="zh-CN" altLang="en-US" b="1" dirty="0"/>
              <a:t>容器是生成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实例的工厂，并管理容器中的</a:t>
            </a:r>
            <a:r>
              <a:rPr kumimoji="1" lang="en-US" altLang="zh-CN" b="1" dirty="0"/>
              <a:t>Bean</a:t>
            </a:r>
            <a:r>
              <a:rPr kumimoji="1" lang="zh-CN" altLang="en-US" b="1" dirty="0" smtClean="0"/>
              <a:t>。</a:t>
            </a:r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Spring</a:t>
            </a:r>
            <a:r>
              <a:rPr kumimoji="1" lang="zh-CN" altLang="en-US" b="1" dirty="0"/>
              <a:t>中的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和</a:t>
            </a:r>
            <a:r>
              <a:rPr kumimoji="1" lang="en-US" altLang="zh-CN" b="1" dirty="0"/>
              <a:t>JavaBean</a:t>
            </a:r>
            <a:r>
              <a:rPr kumimoji="1" lang="zh-CN" altLang="en-US" b="1" dirty="0"/>
              <a:t>的概念并不相同，</a:t>
            </a:r>
            <a:r>
              <a:rPr kumimoji="1" lang="en-US" altLang="zh-CN" b="1" dirty="0"/>
              <a:t>Spring</a:t>
            </a:r>
            <a:r>
              <a:rPr kumimoji="1" lang="zh-CN" altLang="en-US" b="1" dirty="0"/>
              <a:t>中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是非常广义的概念，任何的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对象和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组件都可以被当成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处理</a:t>
            </a:r>
            <a:r>
              <a:rPr kumimoji="1" lang="zh-CN" altLang="en-US" b="1" dirty="0" smtClean="0"/>
              <a:t>。</a:t>
            </a:r>
          </a:p>
          <a:p>
            <a:endParaRPr kumimoji="1" lang="zh-CN" altLang="en-US" b="1" dirty="0" smtClean="0"/>
          </a:p>
          <a:p>
            <a:r>
              <a:rPr kumimoji="1" lang="zh-CN" altLang="en-US" b="1" dirty="0" smtClean="0"/>
              <a:t>配置</a:t>
            </a:r>
            <a:r>
              <a:rPr kumimoji="1" lang="zh-CN" altLang="en-US" b="1" dirty="0"/>
              <a:t>文件中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的声明</a:t>
            </a:r>
            <a:r>
              <a:rPr kumimoji="1" lang="zh-CN" altLang="en-US" b="1" dirty="0" smtClean="0"/>
              <a:t>：</a:t>
            </a:r>
          </a:p>
          <a:p>
            <a:r>
              <a:rPr kumimoji="1" lang="en-US" altLang="zh-CN" b="1" dirty="0" smtClean="0"/>
              <a:t>&lt;</a:t>
            </a:r>
            <a:r>
              <a:rPr kumimoji="1" lang="en-US" altLang="zh-CN" b="1" dirty="0"/>
              <a:t>Bean id</a:t>
            </a:r>
            <a:r>
              <a:rPr kumimoji="1" lang="en-US" altLang="zh-CN" b="1" dirty="0" smtClean="0"/>
              <a:t>=“mouth” </a:t>
            </a:r>
            <a:r>
              <a:rPr kumimoji="1" lang="en-US" altLang="zh-CN" b="1" dirty="0"/>
              <a:t>class</a:t>
            </a:r>
            <a:r>
              <a:rPr kumimoji="1" lang="en-US" altLang="zh-CN" b="1" dirty="0" smtClean="0"/>
              <a:t>=“</a:t>
            </a:r>
            <a:r>
              <a:rPr kumimoji="1" lang="en-US" altLang="zh-CN" b="1" dirty="0" err="1" smtClean="0"/>
              <a:t>net.cn.impl.MouthImpl</a:t>
            </a:r>
            <a:r>
              <a:rPr kumimoji="1" lang="en-US" altLang="zh-CN" b="1" dirty="0" smtClean="0"/>
              <a:t>”&gt;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&lt;/</a:t>
            </a:r>
            <a:r>
              <a:rPr kumimoji="1" lang="en-US" altLang="zh-CN" b="1" dirty="0"/>
              <a:t>Bean</a:t>
            </a:r>
            <a:r>
              <a:rPr kumimoji="1" lang="en-US" altLang="zh-CN" b="1" dirty="0" smtClean="0"/>
              <a:t>&gt;</a:t>
            </a:r>
            <a:endParaRPr kumimoji="1" lang="zh-CN" altLang="en-US" b="1" dirty="0" smtClean="0"/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&lt;</a:t>
            </a:r>
            <a:r>
              <a:rPr kumimoji="1" lang="en-US" altLang="zh-CN" b="1" dirty="0"/>
              <a:t>Bean id</a:t>
            </a:r>
            <a:r>
              <a:rPr kumimoji="1" lang="en-US" altLang="zh-CN" b="1" dirty="0" smtClean="0"/>
              <a:t>=“person” </a:t>
            </a:r>
            <a:r>
              <a:rPr kumimoji="1" lang="en-US" altLang="zh-CN" b="1" dirty="0"/>
              <a:t>class</a:t>
            </a:r>
            <a:r>
              <a:rPr kumimoji="1" lang="en-US" altLang="zh-CN" b="1" dirty="0" smtClean="0"/>
              <a:t>=“</a:t>
            </a:r>
            <a:r>
              <a:rPr kumimoji="1" lang="en-US" altLang="zh-CN" b="1" dirty="0" err="1" smtClean="0"/>
              <a:t>net.cn.impl.PersonImpl</a:t>
            </a:r>
            <a:r>
              <a:rPr kumimoji="1" lang="en-US" altLang="zh-CN" b="1" dirty="0" smtClean="0"/>
              <a:t>”&gt;</a:t>
            </a:r>
            <a:r>
              <a:rPr kumimoji="1" lang="en-US" altLang="zh-CN" b="1" dirty="0"/>
              <a:t>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&lt;</a:t>
            </a:r>
            <a:r>
              <a:rPr kumimoji="1" lang="en-US" altLang="zh-CN" b="1" dirty="0"/>
              <a:t>Property name</a:t>
            </a:r>
            <a:r>
              <a:rPr kumimoji="1" lang="en-US" altLang="zh-CN" b="1" dirty="0" smtClean="0"/>
              <a:t>=“mouth” </a:t>
            </a:r>
            <a:r>
              <a:rPr kumimoji="1" lang="en-US" altLang="zh-CN" b="1" dirty="0"/>
              <a:t>ref</a:t>
            </a:r>
            <a:r>
              <a:rPr kumimoji="1" lang="en-US" altLang="zh-CN" b="1" dirty="0" smtClean="0"/>
              <a:t>=“mouth”/&gt;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&lt;/</a:t>
            </a:r>
            <a:r>
              <a:rPr kumimoji="1" lang="en-US" altLang="zh-CN" b="1" dirty="0"/>
              <a:t>Bean</a:t>
            </a:r>
            <a:r>
              <a:rPr kumimoji="1" lang="en-US" altLang="zh-CN" b="1" dirty="0" smtClean="0"/>
              <a:t>&gt;</a:t>
            </a:r>
            <a:endParaRPr kumimoji="1" lang="zh-CN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18208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2" name="矩形 50"/>
          <p:cNvSpPr>
            <a:spLocks noChangeArrowheads="1"/>
          </p:cNvSpPr>
          <p:nvPr/>
        </p:nvSpPr>
        <p:spPr bwMode="auto">
          <a:xfrm>
            <a:off x="5786438" y="2428875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571" y="196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78571" y="1239619"/>
            <a:ext cx="83988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public interface Mouth{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public </a:t>
            </a:r>
            <a:r>
              <a:rPr kumimoji="1" lang="en-US" altLang="zh-CN" b="1" dirty="0"/>
              <a:t>void </a:t>
            </a:r>
            <a:r>
              <a:rPr kumimoji="1" lang="en-US" altLang="zh-CN" b="1" dirty="0" err="1"/>
              <a:t>sayHello</a:t>
            </a:r>
            <a:r>
              <a:rPr kumimoji="1" lang="en-US" altLang="zh-CN" b="1" dirty="0" smtClean="0"/>
              <a:t>();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}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public </a:t>
            </a:r>
            <a:r>
              <a:rPr kumimoji="1" lang="en-US" altLang="zh-CN" b="1" dirty="0"/>
              <a:t>class </a:t>
            </a:r>
            <a:r>
              <a:rPr kumimoji="1" lang="en-US" altLang="zh-CN" b="1" dirty="0" err="1"/>
              <a:t>MouthImlp</a:t>
            </a:r>
            <a:r>
              <a:rPr kumimoji="1" lang="en-US" altLang="zh-CN" b="1" dirty="0"/>
              <a:t> implements Mouth{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@</a:t>
            </a:r>
            <a:r>
              <a:rPr kumimoji="1" lang="en-US" altLang="zh-CN" b="1" dirty="0"/>
              <a:t>Override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public </a:t>
            </a:r>
            <a:r>
              <a:rPr kumimoji="1" lang="en-US" altLang="zh-CN" b="1" dirty="0"/>
              <a:t>void </a:t>
            </a:r>
            <a:r>
              <a:rPr kumimoji="1" lang="en-US" altLang="zh-CN" b="1" dirty="0" err="1"/>
              <a:t>sayHello</a:t>
            </a:r>
            <a:r>
              <a:rPr kumimoji="1" lang="en-US" altLang="zh-CN" b="1" dirty="0"/>
              <a:t>(){	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zh-CN" altLang="en-US" b="1" dirty="0" smtClean="0"/>
              <a:t>	</a:t>
            </a:r>
            <a:r>
              <a:rPr kumimoji="1" lang="en-US" altLang="zh-CN" b="1" dirty="0" err="1" smtClean="0"/>
              <a:t>System.out.println</a:t>
            </a:r>
            <a:r>
              <a:rPr kumimoji="1" lang="en-US" altLang="zh-CN" b="1" dirty="0" smtClean="0"/>
              <a:t>(“Hello World”);</a:t>
            </a:r>
            <a:r>
              <a:rPr kumimoji="1" lang="en-US" altLang="zh-CN" b="1" dirty="0"/>
              <a:t>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}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}</a:t>
            </a:r>
            <a:endParaRPr kumimoji="1" lang="zh-CN" altLang="en-US" b="1" dirty="0" smtClean="0"/>
          </a:p>
          <a:p>
            <a:r>
              <a:rPr kumimoji="1" lang="en-US" altLang="zh-CN" b="1" dirty="0"/>
              <a:t>public interface Person{	</a:t>
            </a:r>
            <a:endParaRPr kumimoji="1" lang="zh-CN" altLang="en-US" b="1" dirty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/>
              <a:t>public void speak();</a:t>
            </a:r>
            <a:endParaRPr kumimoji="1" lang="zh-CN" altLang="en-US" b="1" dirty="0"/>
          </a:p>
          <a:p>
            <a:r>
              <a:rPr kumimoji="1" lang="en-US" altLang="zh-CN" b="1" dirty="0"/>
              <a:t>}</a:t>
            </a:r>
            <a:endParaRPr kumimoji="1" lang="zh-CN" altLang="en-US" b="1" dirty="0"/>
          </a:p>
          <a:p>
            <a:endParaRPr kumimoji="1" lang="zh-CN" altLang="en-US" b="1" dirty="0" smtClean="0"/>
          </a:p>
          <a:p>
            <a:r>
              <a:rPr kumimoji="1" lang="en-US" altLang="zh-CN" b="1" dirty="0" smtClean="0"/>
              <a:t>public </a:t>
            </a:r>
            <a:r>
              <a:rPr kumimoji="1" lang="en-US" altLang="zh-CN" b="1" dirty="0"/>
              <a:t>class </a:t>
            </a:r>
            <a:r>
              <a:rPr kumimoji="1" lang="en-US" altLang="zh-CN" b="1" dirty="0" err="1"/>
              <a:t>PersonImpl</a:t>
            </a:r>
            <a:r>
              <a:rPr kumimoji="1" lang="en-US" altLang="zh-CN" b="1" dirty="0"/>
              <a:t> implements Person{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private </a:t>
            </a:r>
            <a:r>
              <a:rPr kumimoji="1" lang="en-US" altLang="zh-CN" b="1" dirty="0"/>
              <a:t>Mouth mouth;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@</a:t>
            </a:r>
            <a:r>
              <a:rPr kumimoji="1" lang="en-US" altLang="zh-CN" b="1" dirty="0"/>
              <a:t>Override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en-US" altLang="zh-CN" b="1" dirty="0" smtClean="0"/>
              <a:t>public </a:t>
            </a:r>
            <a:r>
              <a:rPr kumimoji="1" lang="en-US" altLang="zh-CN" b="1" dirty="0"/>
              <a:t>void speak(){		</a:t>
            </a:r>
            <a:endParaRPr kumimoji="1" lang="zh-CN" altLang="en-US" b="1" dirty="0" smtClean="0"/>
          </a:p>
          <a:p>
            <a:r>
              <a:rPr kumimoji="1" lang="zh-CN" altLang="en-US" b="1" dirty="0"/>
              <a:t>	</a:t>
            </a:r>
            <a:r>
              <a:rPr kumimoji="1" lang="zh-CN" altLang="en-US" b="1" dirty="0" smtClean="0"/>
              <a:t>	</a:t>
            </a:r>
            <a:r>
              <a:rPr kumimoji="1" lang="en-US" altLang="zh-CN" b="1" dirty="0" err="1" smtClean="0"/>
              <a:t>mouth.sayHello</a:t>
            </a:r>
            <a:r>
              <a:rPr kumimoji="1" lang="en-US" altLang="zh-CN" b="1" dirty="0" smtClean="0"/>
              <a:t>();</a:t>
            </a:r>
            <a:endParaRPr kumimoji="1" lang="zh-CN" altLang="en-US" b="1" dirty="0" smtClean="0"/>
          </a:p>
          <a:p>
            <a:r>
              <a:rPr kumimoji="1" lang="en-US" altLang="zh-CN" b="1" dirty="0"/>
              <a:t>	</a:t>
            </a:r>
            <a:r>
              <a:rPr kumimoji="1" lang="en-US" altLang="zh-CN" b="1" dirty="0" smtClean="0"/>
              <a:t>}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}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0528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8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1168400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2" name="TextBox 14"/>
          <p:cNvSpPr txBox="1">
            <a:spLocks noChangeArrowheads="1"/>
          </p:cNvSpPr>
          <p:nvPr/>
        </p:nvSpPr>
        <p:spPr bwMode="auto">
          <a:xfrm>
            <a:off x="285751" y="285750"/>
            <a:ext cx="14059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9" name="矩形 47"/>
          <p:cNvSpPr>
            <a:spLocks noChangeArrowheads="1"/>
          </p:cNvSpPr>
          <p:nvPr/>
        </p:nvSpPr>
        <p:spPr bwMode="auto">
          <a:xfrm>
            <a:off x="2173288" y="3214688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0" name="矩形 48"/>
          <p:cNvSpPr>
            <a:spLocks noChangeArrowheads="1"/>
          </p:cNvSpPr>
          <p:nvPr/>
        </p:nvSpPr>
        <p:spPr bwMode="auto">
          <a:xfrm>
            <a:off x="2173288" y="398780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1" name="矩形 49"/>
          <p:cNvSpPr>
            <a:spLocks noChangeArrowheads="1"/>
          </p:cNvSpPr>
          <p:nvPr/>
        </p:nvSpPr>
        <p:spPr bwMode="auto">
          <a:xfrm>
            <a:off x="2143125" y="47148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2" name="矩形 50"/>
          <p:cNvSpPr>
            <a:spLocks noChangeArrowheads="1"/>
          </p:cNvSpPr>
          <p:nvPr/>
        </p:nvSpPr>
        <p:spPr bwMode="auto">
          <a:xfrm>
            <a:off x="5786438" y="2428875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3" name="矩形 52"/>
          <p:cNvSpPr>
            <a:spLocks noChangeArrowheads="1"/>
          </p:cNvSpPr>
          <p:nvPr/>
        </p:nvSpPr>
        <p:spPr bwMode="auto">
          <a:xfrm>
            <a:off x="5786438" y="3214688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4" name="矩形 53"/>
          <p:cNvSpPr>
            <a:spLocks noChangeArrowheads="1"/>
          </p:cNvSpPr>
          <p:nvPr/>
        </p:nvSpPr>
        <p:spPr bwMode="auto">
          <a:xfrm>
            <a:off x="5816600" y="39290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5" name="矩形 54"/>
          <p:cNvSpPr>
            <a:spLocks noChangeArrowheads="1"/>
          </p:cNvSpPr>
          <p:nvPr/>
        </p:nvSpPr>
        <p:spPr bwMode="auto">
          <a:xfrm>
            <a:off x="5816600" y="4702175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571" y="196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478571" y="1256785"/>
            <a:ext cx="852028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 smtClean="0"/>
              <a:t>四</a:t>
            </a:r>
            <a:r>
              <a:rPr kumimoji="1" lang="en-US" altLang="zh-CN" sz="2400" b="1" dirty="0" smtClean="0"/>
              <a:t>.</a:t>
            </a:r>
            <a:r>
              <a:rPr kumimoji="1" lang="zh-CN" altLang="en-US" sz="2400" b="1" dirty="0" smtClean="0"/>
              <a:t>从</a:t>
            </a:r>
            <a:r>
              <a:rPr kumimoji="1" lang="en-US" altLang="zh-CN" sz="2400" b="1" dirty="0"/>
              <a:t>XML</a:t>
            </a:r>
            <a:r>
              <a:rPr kumimoji="1" lang="zh-CN" altLang="en-US" sz="2400" b="1" dirty="0"/>
              <a:t>到</a:t>
            </a:r>
            <a:r>
              <a:rPr kumimoji="1" lang="en-US" altLang="zh-CN" sz="2400" b="1" dirty="0" smtClean="0"/>
              <a:t>Annotation</a:t>
            </a:r>
            <a:endParaRPr kumimoji="1" lang="zh-CN" altLang="en-US" sz="2400" b="1" dirty="0" smtClean="0"/>
          </a:p>
          <a:p>
            <a:endParaRPr kumimoji="1" lang="zh-CN" altLang="en-US" b="1" dirty="0" smtClean="0"/>
          </a:p>
          <a:p>
            <a:r>
              <a:rPr kumimoji="1" lang="zh-CN" altLang="en-US" b="1" dirty="0" smtClean="0"/>
              <a:t>由于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是一门跨平台的语言，而</a:t>
            </a:r>
            <a:r>
              <a:rPr kumimoji="1" lang="en-US" altLang="zh-CN" b="1" dirty="0"/>
              <a:t>XML</a:t>
            </a:r>
            <a:r>
              <a:rPr kumimoji="1" lang="zh-CN" altLang="en-US" b="1" dirty="0"/>
              <a:t>又是跨平台的数据交换格式，所以一度</a:t>
            </a:r>
            <a:r>
              <a:rPr kumimoji="1" lang="zh-CN" altLang="en-US" b="1" dirty="0" smtClean="0"/>
              <a:t>大家</a:t>
            </a:r>
          </a:p>
          <a:p>
            <a:r>
              <a:rPr kumimoji="1" lang="zh-CN" altLang="en-US" b="1" dirty="0" smtClean="0"/>
              <a:t>都</a:t>
            </a:r>
            <a:r>
              <a:rPr kumimoji="1" lang="zh-CN" altLang="en-US" b="1" dirty="0"/>
              <a:t>很看好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与</a:t>
            </a:r>
            <a:r>
              <a:rPr kumimoji="1" lang="en-US" altLang="zh-CN" b="1" dirty="0"/>
              <a:t>XML</a:t>
            </a:r>
            <a:r>
              <a:rPr kumimoji="1" lang="zh-CN" altLang="en-US" b="1" dirty="0"/>
              <a:t>的结合，在这种潮流下，以前的</a:t>
            </a:r>
            <a:r>
              <a:rPr kumimoji="1" lang="en-US" altLang="zh-CN" b="1" dirty="0"/>
              <a:t>java</a:t>
            </a:r>
            <a:r>
              <a:rPr kumimoji="1" lang="zh-CN" altLang="en-US" b="1" dirty="0"/>
              <a:t>框架都使用</a:t>
            </a:r>
            <a:r>
              <a:rPr kumimoji="1" lang="en-US" altLang="zh-CN" b="1" dirty="0"/>
              <a:t>XML</a:t>
            </a:r>
            <a:r>
              <a:rPr kumimoji="1" lang="zh-CN" altLang="en-US" b="1" dirty="0"/>
              <a:t>作为</a:t>
            </a:r>
            <a:r>
              <a:rPr kumimoji="1" lang="zh-CN" altLang="en-US" b="1" dirty="0" smtClean="0"/>
              <a:t>配置</a:t>
            </a:r>
          </a:p>
          <a:p>
            <a:r>
              <a:rPr kumimoji="1" lang="zh-CN" altLang="en-US" b="1" dirty="0" smtClean="0"/>
              <a:t>文件</a:t>
            </a:r>
          </a:p>
          <a:p>
            <a:endParaRPr kumimoji="1" lang="zh-CN" altLang="en-US" b="1" dirty="0"/>
          </a:p>
          <a:p>
            <a:r>
              <a:rPr kumimoji="1" lang="zh-CN" altLang="en-US" b="1" dirty="0" smtClean="0"/>
              <a:t>但是</a:t>
            </a:r>
            <a:r>
              <a:rPr kumimoji="1" lang="zh-CN" altLang="en-US" b="1" dirty="0"/>
              <a:t>随着</a:t>
            </a:r>
            <a:r>
              <a:rPr kumimoji="1" lang="en-US" altLang="zh-CN" b="1" dirty="0"/>
              <a:t>jdk1.5</a:t>
            </a:r>
            <a:r>
              <a:rPr kumimoji="1" lang="zh-CN" altLang="en-US" b="1" dirty="0"/>
              <a:t>的发布，新的语法</a:t>
            </a:r>
            <a:r>
              <a:rPr kumimoji="1" lang="en-US" altLang="zh-CN" b="1" dirty="0"/>
              <a:t>Annotation</a:t>
            </a:r>
            <a:r>
              <a:rPr kumimoji="1" lang="zh-CN" altLang="en-US" b="1" dirty="0"/>
              <a:t>被引入，</a:t>
            </a:r>
            <a:r>
              <a:rPr kumimoji="1" lang="en-US" altLang="zh-CN" b="1" dirty="0"/>
              <a:t>Java Annotation</a:t>
            </a:r>
            <a:r>
              <a:rPr kumimoji="1" lang="zh-CN" altLang="en-US" b="1" dirty="0"/>
              <a:t>是代码</a:t>
            </a:r>
            <a:r>
              <a:rPr kumimoji="1" lang="zh-CN" altLang="en-US" b="1" dirty="0" smtClean="0"/>
              <a:t>中</a:t>
            </a:r>
          </a:p>
          <a:p>
            <a:r>
              <a:rPr kumimoji="1" lang="zh-CN" altLang="en-US" b="1" dirty="0" smtClean="0"/>
              <a:t>的</a:t>
            </a:r>
            <a:r>
              <a:rPr kumimoji="1" lang="zh-CN" altLang="en-US" b="1" dirty="0"/>
              <a:t>特殊标记，可以在编译、类加载以及运行的时候被读取，并执行相应的处理</a:t>
            </a:r>
            <a:r>
              <a:rPr kumimoji="1" lang="zh-CN" altLang="en-US" b="1" dirty="0" smtClean="0"/>
              <a:t>。通</a:t>
            </a:r>
          </a:p>
          <a:p>
            <a:r>
              <a:rPr kumimoji="1" lang="zh-CN" altLang="en-US" b="1" dirty="0" smtClean="0"/>
              <a:t>过</a:t>
            </a:r>
            <a:r>
              <a:rPr kumimoji="1" lang="zh-CN" altLang="en-US" b="1" dirty="0"/>
              <a:t>使用</a:t>
            </a:r>
            <a:r>
              <a:rPr kumimoji="1" lang="en-US" altLang="zh-CN" b="1" dirty="0"/>
              <a:t>Annotation</a:t>
            </a:r>
            <a:r>
              <a:rPr kumimoji="1" lang="zh-CN" altLang="en-US" b="1" dirty="0"/>
              <a:t>，开发人员可以在不改变原有逻辑的情况下，在源文件中</a:t>
            </a:r>
            <a:r>
              <a:rPr kumimoji="1" lang="zh-CN" altLang="en-US" b="1" dirty="0" smtClean="0"/>
              <a:t>嵌入</a:t>
            </a:r>
          </a:p>
          <a:p>
            <a:r>
              <a:rPr kumimoji="1" lang="zh-CN" altLang="en-US" b="1" dirty="0" smtClean="0"/>
              <a:t>一些</a:t>
            </a:r>
            <a:r>
              <a:rPr kumimoji="1" lang="zh-CN" altLang="en-US" b="1" dirty="0"/>
              <a:t>补充的信息。代码分析工具、开发工具和部署工具可以通过这些补充信息</a:t>
            </a:r>
            <a:r>
              <a:rPr kumimoji="1" lang="zh-CN" altLang="en-US" b="1" dirty="0" smtClean="0"/>
              <a:t>进行</a:t>
            </a:r>
          </a:p>
          <a:p>
            <a:r>
              <a:rPr kumimoji="1" lang="zh-CN" altLang="en-US" b="1" dirty="0" smtClean="0"/>
              <a:t>验证</a:t>
            </a:r>
            <a:r>
              <a:rPr kumimoji="1" lang="zh-CN" altLang="en-US" b="1" dirty="0"/>
              <a:t>、处理或者进行部署</a:t>
            </a:r>
            <a:r>
              <a:rPr kumimoji="1" lang="zh-CN" altLang="en-US" b="1" dirty="0" smtClean="0"/>
              <a:t>。</a:t>
            </a:r>
          </a:p>
          <a:p>
            <a:endParaRPr kumimoji="1" lang="zh-CN" altLang="en-US" b="1" dirty="0"/>
          </a:p>
          <a:p>
            <a:r>
              <a:rPr kumimoji="1" lang="en-US" altLang="zh-CN" b="1" dirty="0" smtClean="0"/>
              <a:t>Spring </a:t>
            </a:r>
            <a:r>
              <a:rPr kumimoji="1" lang="en-US" altLang="zh-CN" b="1" dirty="0"/>
              <a:t>MVC</a:t>
            </a:r>
            <a:r>
              <a:rPr kumimoji="1" lang="zh-CN" altLang="en-US" b="1" dirty="0"/>
              <a:t>下提供的用于标注</a:t>
            </a:r>
            <a:r>
              <a:rPr kumimoji="1" lang="en-US" altLang="zh-CN" b="1" dirty="0"/>
              <a:t>Bean</a:t>
            </a:r>
            <a:r>
              <a:rPr kumimoji="1" lang="zh-CN" altLang="en-US" b="1" dirty="0"/>
              <a:t>的</a:t>
            </a:r>
            <a:r>
              <a:rPr kumimoji="1" lang="en-US" altLang="zh-CN" b="1" dirty="0"/>
              <a:t>annotation</a:t>
            </a:r>
            <a:r>
              <a:rPr kumimoji="1" lang="en-US" altLang="zh-CN" b="1" dirty="0" smtClean="0"/>
              <a:t>: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@</a:t>
            </a:r>
            <a:r>
              <a:rPr kumimoji="1" lang="en-US" altLang="zh-CN" b="1" dirty="0"/>
              <a:t>Component</a:t>
            </a:r>
            <a:r>
              <a:rPr kumimoji="1" lang="zh-CN" altLang="en-US" b="1" dirty="0"/>
              <a:t>：标注一个普通的</a:t>
            </a:r>
            <a:r>
              <a:rPr kumimoji="1" lang="en-US" altLang="zh-CN" b="1" dirty="0" smtClean="0"/>
              <a:t>Bean</a:t>
            </a:r>
            <a:endParaRPr kumimoji="1" lang="zh-CN" altLang="en-US" b="1" dirty="0" smtClean="0"/>
          </a:p>
          <a:p>
            <a:r>
              <a:rPr kumimoji="1" lang="en-US" altLang="zh-CN" b="1" dirty="0" smtClean="0"/>
              <a:t>@</a:t>
            </a:r>
            <a:r>
              <a:rPr kumimoji="1" lang="en-US" altLang="zh-CN" b="1" dirty="0"/>
              <a:t>Controller</a:t>
            </a:r>
            <a:r>
              <a:rPr kumimoji="1" lang="zh-CN" altLang="en-US" b="1" dirty="0"/>
              <a:t>：标注一个控制器组件</a:t>
            </a:r>
            <a:r>
              <a:rPr kumimoji="1" lang="zh-CN" altLang="en-US" b="1" dirty="0" smtClean="0"/>
              <a:t>类</a:t>
            </a:r>
          </a:p>
          <a:p>
            <a:r>
              <a:rPr kumimoji="1" lang="en-US" altLang="zh-CN" b="1" dirty="0" smtClean="0"/>
              <a:t>@</a:t>
            </a:r>
            <a:r>
              <a:rPr kumimoji="1" lang="en-US" altLang="zh-CN" b="1" dirty="0"/>
              <a:t>Service</a:t>
            </a:r>
            <a:r>
              <a:rPr kumimoji="1" lang="zh-CN" altLang="en-US" b="1" dirty="0"/>
              <a:t>：标注一个业务逻辑组件</a:t>
            </a:r>
            <a:r>
              <a:rPr kumimoji="1" lang="zh-CN" altLang="en-US" b="1" dirty="0" smtClean="0"/>
              <a:t>类</a:t>
            </a:r>
          </a:p>
          <a:p>
            <a:r>
              <a:rPr kumimoji="1" lang="en-US" altLang="zh-CN" b="1" dirty="0" smtClean="0"/>
              <a:t>@</a:t>
            </a:r>
            <a:r>
              <a:rPr kumimoji="1" lang="en-US" altLang="zh-CN" b="1" dirty="0"/>
              <a:t>Repository</a:t>
            </a:r>
            <a:r>
              <a:rPr kumimoji="1" lang="zh-CN" altLang="en-US" b="1" dirty="0"/>
              <a:t>：标注一个</a:t>
            </a:r>
            <a:r>
              <a:rPr kumimoji="1" lang="en-US" altLang="zh-CN" b="1" dirty="0"/>
              <a:t>DAO</a:t>
            </a:r>
            <a:r>
              <a:rPr kumimoji="1" lang="zh-CN" altLang="en-US" b="1" dirty="0"/>
              <a:t>组件类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9705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7" descr="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>
            <a:off x="2571750" y="5000625"/>
            <a:ext cx="4429125" cy="428625"/>
          </a:xfrm>
          <a:prstGeom prst="rect">
            <a:avLst/>
          </a:prstGeom>
          <a:solidFill>
            <a:srgbClr val="946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2071688"/>
            <a:ext cx="9144000" cy="1857375"/>
          </a:xfrm>
          <a:prstGeom prst="rect">
            <a:avLst/>
          </a:prstGeom>
          <a:solidFill>
            <a:srgbClr val="946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94634C"/>
              </a:solidFill>
            </a:endParaRPr>
          </a:p>
        </p:txBody>
      </p:sp>
      <p:sp>
        <p:nvSpPr>
          <p:cNvPr id="14341" name="矩形 3"/>
          <p:cNvSpPr>
            <a:spLocks noChangeArrowheads="1"/>
          </p:cNvSpPr>
          <p:nvPr/>
        </p:nvSpPr>
        <p:spPr bwMode="auto">
          <a:xfrm>
            <a:off x="1214438" y="190500"/>
            <a:ext cx="2954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Spring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MVC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42" name="TextBox 12"/>
          <p:cNvSpPr txBox="1">
            <a:spLocks noChangeArrowheads="1"/>
          </p:cNvSpPr>
          <p:nvPr/>
        </p:nvSpPr>
        <p:spPr bwMode="auto">
          <a:xfrm>
            <a:off x="285750" y="285750"/>
            <a:ext cx="19288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000" dirty="0" smtClean="0">
                <a:solidFill>
                  <a:schemeClr val="bg1"/>
                </a:solidFill>
              </a:rPr>
              <a:t>数字家圆科</a:t>
            </a:r>
          </a:p>
          <a:p>
            <a:r>
              <a:rPr lang="zh-CN" altLang="en-US" sz="1000" dirty="0" smtClean="0">
                <a:solidFill>
                  <a:schemeClr val="bg1"/>
                </a:solidFill>
              </a:rPr>
              <a:t>技有限公司</a:t>
            </a:r>
            <a:endParaRPr lang="zh-CN" altLang="en-US" sz="1000" dirty="0" smtClean="0">
              <a:solidFill>
                <a:schemeClr val="bg1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 rot="5400000">
            <a:off x="965201" y="463550"/>
            <a:ext cx="500062" cy="15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矩形 10"/>
          <p:cNvSpPr>
            <a:spLocks noChangeArrowheads="1"/>
          </p:cNvSpPr>
          <p:nvPr/>
        </p:nvSpPr>
        <p:spPr bwMode="auto">
          <a:xfrm>
            <a:off x="2538040" y="2615654"/>
            <a:ext cx="5214937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感谢各位的聆听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45" name="矩形 11"/>
          <p:cNvSpPr>
            <a:spLocks noChangeArrowheads="1"/>
          </p:cNvSpPr>
          <p:nvPr/>
        </p:nvSpPr>
        <p:spPr bwMode="auto">
          <a:xfrm>
            <a:off x="3071813" y="5072063"/>
            <a:ext cx="350043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孙凡	</a:t>
            </a:r>
            <a:r>
              <a:rPr lang="en-US" altLang="zh-CN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2016/07/13</a:t>
            </a:r>
            <a:endParaRPr lang="zh-CN" altLang="en-US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966</Words>
  <Application>Microsoft Macintosh PowerPoint</Application>
  <PresentationFormat>全屏显示(4:3)</PresentationFormat>
  <Paragraphs>194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Calibri</vt:lpstr>
      <vt:lpstr>宋体</vt:lpstr>
      <vt:lpstr>微软雅黑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bj</dc:creator>
  <cp:lastModifiedBy>Maxwell</cp:lastModifiedBy>
  <cp:revision>272</cp:revision>
  <dcterms:created xsi:type="dcterms:W3CDTF">2013-10-30T09:04:50Z</dcterms:created>
  <dcterms:modified xsi:type="dcterms:W3CDTF">2016-07-12T13:50:13Z</dcterms:modified>
</cp:coreProperties>
</file>